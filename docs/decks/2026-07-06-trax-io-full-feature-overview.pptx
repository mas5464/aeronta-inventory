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6035040" cy="6035040"/>
          </a:xfrm>
          <a:prstGeom prst="ellipse">
            <a:avLst/>
          </a:prstGeom>
          <a:ln w="12700">
            <a:solidFill>
              <a:srgbClr val="1E6FB0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05840"/>
            <a:ext cx="4023360" cy="4023360"/>
          </a:xfrm>
          <a:prstGeom prst="ellipse">
            <a:avLst/>
          </a:prstGeom>
          <a:ln w="15875">
            <a:solidFill>
              <a:srgbClr val="2F9BE0">
                <a:alpha val="6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74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100" kern="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6600" b="1" spc="1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548640" y="2999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Inventory Optimization for Airline Spares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639312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multi-tenant, agentic optimizer layered on Trax eMRO — continuously tuning re-order point, order quantity, safety stock and max per part, per location, under governed autonomy.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Sosa</a:t>
            </a:r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VP Head of Innovation, Trax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71055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Overview  ·  v1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stock levels, hand-tuned once a year, in a live fleet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eMRO's PN_INVENTORY_LEVEL holds one fixed (ROP, EOQ, Safety Stock, Max) per part, per location — set by hand, reviewed maybe annually. Meanwhile demand, lead times, wash rates and criticality drift every day. Get a number wrong in either direction and it costs real money.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tuning is manual, coarse, and always out of date.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572768"/>
            <a:ext cx="5699455" cy="2011680"/>
          </a:xfrm>
          <a:prstGeom prst="roundRect">
            <a:avLst>
              <a:gd name="adj" fmla="val 409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1865376"/>
            <a:ext cx="548640" cy="548640"/>
          </a:xfrm>
          <a:prstGeom prst="ellipse">
            <a:avLst/>
          </a:prstGeom>
          <a:solidFill>
            <a:srgbClr val="E560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594" y="1997050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1883664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too low  →  AOG risk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54496" y="2532888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aircraft and dispatch-reliability hits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expedites, AOG fees, borrow / loan costs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schedule disruption across the network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3840480"/>
            <a:ext cx="5699455" cy="2011680"/>
          </a:xfrm>
          <a:prstGeom prst="roundRect">
            <a:avLst>
              <a:gd name="adj" fmla="val 409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133088"/>
            <a:ext cx="548640" cy="548640"/>
          </a:xfrm>
          <a:prstGeom prst="ellipse">
            <a:avLst/>
          </a:prstGeom>
          <a:solidFill>
            <a:srgbClr val="F0B5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4264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4151376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too high  →  trapped capital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54496" y="4800600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in slow-moving and obsolete stock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Shelf-life write-offs on time-limited parts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locked up instead of deployed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always-on optimizer that plans every part, every location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IO replaces the static PN_INVENTORY_LEVEL values with policy-driven ones — recomputed per PN × Location across every tenant's catalog, continuously.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7802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77" y="2622865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59736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recompute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77824" y="3172968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full-fleet, plus real-time recompute on flight, stock and AD/SB events.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214884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9624" y="247802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465" y="2622865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6008" y="2459736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Regime-routed forecasting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07912" y="3172968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statistical model for each demand class — from ultra-rare to high-volume.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458114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" y="4725985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562856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policy engine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77824" y="5276088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informs; deterministic Python decides and writes. Planners sign it off.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425196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9624" y="458114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465" y="4725985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6008" y="4562856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autonomy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607912" y="5276088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A/B/C writes, hard guardrails, full audit and 90-day rollback.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converge in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1214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143402" y="2212848"/>
            <a:ext cx="548640" cy="54864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076" y="234452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200400"/>
            <a:ext cx="2832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is production-ready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4069080"/>
            <a:ext cx="28325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Generative-AI-native agents on AWS Bedrock AgentCore are operationally mature. The same bet two years ago would have been research-grade.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8698" y="182880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79594" y="21214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Shape 9"/>
          <p:cNvSpPr/>
          <p:nvPr/>
        </p:nvSpPr>
        <p:spPr>
          <a:xfrm>
            <a:off x="6963461" y="2212848"/>
            <a:ext cx="548640" cy="54864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134" y="234452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9594" y="3200400"/>
            <a:ext cx="2832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Carriers are actively buying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79594" y="4069080"/>
            <a:ext cx="28325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carriers are scoping AI inventory products now. The first credible MRO-native vendor wins multi-year contracts.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8757" y="182880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99653" y="21214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Shape 14"/>
          <p:cNvSpPr/>
          <p:nvPr/>
        </p:nvSpPr>
        <p:spPr>
          <a:xfrm>
            <a:off x="10783519" y="2212848"/>
            <a:ext cx="548640" cy="54864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193" y="234452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99653" y="3200400"/>
            <a:ext cx="2832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already owns the data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99653" y="4069080"/>
            <a:ext cx="28325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eMRO catalog, demand history, vendor terms, utilization and criticality. Competitors must integrate; we ship one that already knows the data model.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cadences on one pipeline: nightly full-fleet, real-time on events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27632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" y="2350008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19" y="247290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2898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3504" y="3191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eMRO domains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94560" y="2857500"/>
            <a:ext cx="229149" cy="0"/>
          </a:xfrm>
          <a:prstGeom prst="line">
            <a:avLst/>
          </a:prstGeom>
          <a:noFill/>
          <a:ln w="1905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41997" y="2148840"/>
            <a:ext cx="1627632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9781" y="2350008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247290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861" y="2898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regime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496861" y="3191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PN × Location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087917" y="2857500"/>
            <a:ext cx="229149" cy="0"/>
          </a:xfrm>
          <a:prstGeom prst="line">
            <a:avLst/>
          </a:prstGeom>
          <a:noFill/>
          <a:ln w="1905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335353" y="2148840"/>
            <a:ext cx="1627632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3137" y="2350008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033" y="2472903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90217" y="2898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390217" y="3191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distribution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981273" y="2857500"/>
            <a:ext cx="229149" cy="0"/>
          </a:xfrm>
          <a:prstGeom prst="line">
            <a:avLst/>
          </a:prstGeom>
          <a:noFill/>
          <a:ln w="1905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228710" y="2148840"/>
            <a:ext cx="1627632" cy="1417320"/>
          </a:xfrm>
          <a:prstGeom prst="roundRect">
            <a:avLst>
              <a:gd name="adj" fmla="val 5806"/>
            </a:avLst>
          </a:prstGeom>
          <a:solidFill>
            <a:srgbClr val="1E6FB0"/>
          </a:solidFill>
          <a:ln w="12700">
            <a:solidFill>
              <a:srgbClr val="2F9B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86494" y="2350008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389" y="2472903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83574" y="2898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83574" y="3191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 · EOQ · SS · Max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874630" y="2857500"/>
            <a:ext cx="229149" cy="0"/>
          </a:xfrm>
          <a:prstGeom prst="line">
            <a:avLst/>
          </a:prstGeom>
          <a:noFill/>
          <a:ln w="1905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122067" y="2148840"/>
            <a:ext cx="1627632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679851" y="2350008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746" y="2472903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76931" y="2898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176931" y="3191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clamps + tier route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767987" y="2857500"/>
            <a:ext cx="229149" cy="0"/>
          </a:xfrm>
          <a:prstGeom prst="line">
            <a:avLst/>
          </a:prstGeom>
          <a:noFill/>
          <a:ln w="1905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10015423" y="2148840"/>
            <a:ext cx="1627632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573207" y="2350008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6103" y="2472903"/>
            <a:ext cx="266273" cy="26627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70287" y="2898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 queue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070287" y="3191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eMRO or approval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548640" y="1828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NIGHTLY — every active part, every location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48640" y="416052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22960" y="4434840"/>
            <a:ext cx="512064" cy="512064"/>
          </a:xfrm>
          <a:prstGeom prst="ellipse">
            <a:avLst/>
          </a:prstGeom>
          <a:solidFill>
            <a:srgbClr val="33C08A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855" y="4557735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508760" y="4306824"/>
            <a:ext cx="8076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REAL-TIME — hot-parts recompute (hourly)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eMRO outbound events (stock moved · flight completed · removal recorded · AD/SB issued) fire Step Functions to re-solve only the affected part-locations — feeding the same policy engine and guardrails.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 flipH="1" flipV="1">
            <a:off x="7042526" y="3566160"/>
            <a:ext cx="3320369" cy="594360"/>
          </a:xfrm>
          <a:prstGeom prst="line">
            <a:avLst/>
          </a:prstGeom>
          <a:noFill/>
          <a:ln w="19050">
            <a:solidFill>
              <a:srgbClr val="33C08A"/>
            </a:solidFill>
            <a:prstDash val="dash"/>
            <a:headEnd type="none"/>
            <a:tailEnd type="triangle"/>
          </a:ln>
        </p:spPr>
      </p:sp>
      <p:sp>
        <p:nvSpPr>
          <p:cNvPr id="45" name="Text 36"/>
          <p:cNvSpPr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is never a black box: every output carries a provenance record — model, distribution parameters, service-level target, binding constraints, and delta vs. the current value.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levels, from five inputs, with full provenance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INPUTS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00400" cy="438912"/>
          </a:xfrm>
          <a:prstGeom prst="roundRect">
            <a:avLst>
              <a:gd name="adj" fmla="val 1875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8745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distribution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3200400" cy="438912"/>
          </a:xfrm>
          <a:prstGeom prst="roundRect">
            <a:avLst>
              <a:gd name="adj" fmla="val 1875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4231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Lead-time distribution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3200400" cy="438912"/>
          </a:xfrm>
          <a:prstGeom prst="roundRect">
            <a:avLst>
              <a:gd name="adj" fmla="val 1875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2971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Service-level target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520440"/>
            <a:ext cx="3200400" cy="438912"/>
          </a:xfrm>
          <a:prstGeom prst="roundRect">
            <a:avLst>
              <a:gd name="adj" fmla="val 1875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35204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069080"/>
            <a:ext cx="3200400" cy="438912"/>
          </a:xfrm>
          <a:prstGeom prst="roundRect">
            <a:avLst>
              <a:gd name="adj" fmla="val 1875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605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15568" y="40690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251960" y="233172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1E6FB0"/>
          </a:solidFill>
          <a:ln w="12700">
            <a:solidFill>
              <a:srgbClr val="2F9B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097780" y="2697480"/>
            <a:ext cx="640080" cy="64008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399" y="2851099"/>
            <a:ext cx="332842" cy="33284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379976" y="3474720"/>
            <a:ext cx="207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Python — no LLM in the write path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3803904" y="3474720"/>
            <a:ext cx="411480" cy="0"/>
          </a:xfrm>
          <a:prstGeom prst="line">
            <a:avLst/>
          </a:prstGeom>
          <a:noFill/>
          <a:ln w="2540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25" name="Text 17"/>
          <p:cNvSpPr/>
          <p:nvPr/>
        </p:nvSpPr>
        <p:spPr>
          <a:xfrm>
            <a:off x="7086600" y="1572768"/>
            <a:ext cx="4556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LEVELS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086600" y="1874520"/>
            <a:ext cx="2141068" cy="1133856"/>
          </a:xfrm>
          <a:prstGeom prst="roundRect">
            <a:avLst>
              <a:gd name="adj" fmla="val 7258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7232904" y="2020824"/>
            <a:ext cx="1848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</a:t>
            </a:r>
            <a:endParaRPr lang="en-US" sz="3000" dirty="0"/>
          </a:p>
        </p:txBody>
      </p:sp>
      <p:sp>
        <p:nvSpPr>
          <p:cNvPr id="28" name="Text 20"/>
          <p:cNvSpPr/>
          <p:nvPr/>
        </p:nvSpPr>
        <p:spPr>
          <a:xfrm>
            <a:off x="7251192" y="2606040"/>
            <a:ext cx="1811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Re-Order Point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9501988" y="1874520"/>
            <a:ext cx="2141068" cy="1133856"/>
          </a:xfrm>
          <a:prstGeom prst="roundRect">
            <a:avLst>
              <a:gd name="adj" fmla="val 7258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9648292" y="2020824"/>
            <a:ext cx="1848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EOQ</a:t>
            </a:r>
            <a:endParaRPr lang="en-US" sz="3000" dirty="0"/>
          </a:p>
        </p:txBody>
      </p:sp>
      <p:sp>
        <p:nvSpPr>
          <p:cNvPr id="31" name="Text 23"/>
          <p:cNvSpPr/>
          <p:nvPr/>
        </p:nvSpPr>
        <p:spPr>
          <a:xfrm>
            <a:off x="9666580" y="2606040"/>
            <a:ext cx="1811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Order Qty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7086600" y="3209544"/>
            <a:ext cx="2141068" cy="1133856"/>
          </a:xfrm>
          <a:prstGeom prst="roundRect">
            <a:avLst>
              <a:gd name="adj" fmla="val 7258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7232904" y="3355848"/>
            <a:ext cx="1848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3000" dirty="0"/>
          </a:p>
        </p:txBody>
      </p:sp>
      <p:sp>
        <p:nvSpPr>
          <p:cNvPr id="34" name="Text 26"/>
          <p:cNvSpPr/>
          <p:nvPr/>
        </p:nvSpPr>
        <p:spPr>
          <a:xfrm>
            <a:off x="7251192" y="3941064"/>
            <a:ext cx="1811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501988" y="3209544"/>
            <a:ext cx="2141068" cy="1133856"/>
          </a:xfrm>
          <a:prstGeom prst="roundRect">
            <a:avLst>
              <a:gd name="adj" fmla="val 7258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9648292" y="3355848"/>
            <a:ext cx="1848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3000" dirty="0"/>
          </a:p>
        </p:txBody>
      </p:sp>
      <p:sp>
        <p:nvSpPr>
          <p:cNvPr id="37" name="Text 29"/>
          <p:cNvSpPr/>
          <p:nvPr/>
        </p:nvSpPr>
        <p:spPr>
          <a:xfrm>
            <a:off x="9666580" y="3941064"/>
            <a:ext cx="1811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level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638544" y="3474720"/>
            <a:ext cx="411480" cy="0"/>
          </a:xfrm>
          <a:prstGeom prst="line">
            <a:avLst/>
          </a:prstGeom>
          <a:noFill/>
          <a:ln w="2540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804672" y="5038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SERVICE-LEVEL TARGETS BY ESSENTIALITY TIER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804672" y="5349240"/>
            <a:ext cx="1933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5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2100" dirty="0"/>
          </a:p>
        </p:txBody>
      </p:sp>
      <p:sp>
        <p:nvSpPr>
          <p:cNvPr id="42" name="Text 34"/>
          <p:cNvSpPr/>
          <p:nvPr/>
        </p:nvSpPr>
        <p:spPr>
          <a:xfrm>
            <a:off x="804672" y="5733288"/>
            <a:ext cx="1933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 / NO-GO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2921142" y="5349240"/>
            <a:ext cx="1933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100" dirty="0"/>
          </a:p>
        </p:txBody>
      </p:sp>
      <p:sp>
        <p:nvSpPr>
          <p:cNvPr id="44" name="Text 36"/>
          <p:cNvSpPr/>
          <p:nvPr/>
        </p:nvSpPr>
        <p:spPr>
          <a:xfrm>
            <a:off x="2921142" y="5733288"/>
            <a:ext cx="1933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GO-IF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5037612" y="5349240"/>
            <a:ext cx="1933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100" dirty="0"/>
          </a:p>
        </p:txBody>
      </p:sp>
      <p:sp>
        <p:nvSpPr>
          <p:cNvPr id="46" name="Text 38"/>
          <p:cNvSpPr/>
          <p:nvPr/>
        </p:nvSpPr>
        <p:spPr>
          <a:xfrm>
            <a:off x="5037612" y="5733288"/>
            <a:ext cx="1933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Dispatch-critical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7154083" y="5349240"/>
            <a:ext cx="1933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100" dirty="0"/>
          </a:p>
        </p:txBody>
      </p:sp>
      <p:sp>
        <p:nvSpPr>
          <p:cNvPr id="48" name="Text 40"/>
          <p:cNvSpPr/>
          <p:nvPr/>
        </p:nvSpPr>
        <p:spPr>
          <a:xfrm>
            <a:off x="7154083" y="5733288"/>
            <a:ext cx="1933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9270553" y="5349240"/>
            <a:ext cx="1933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100" dirty="0"/>
          </a:p>
        </p:txBody>
      </p:sp>
      <p:sp>
        <p:nvSpPr>
          <p:cNvPr id="50" name="Text 42"/>
          <p:cNvSpPr/>
          <p:nvPr/>
        </p:nvSpPr>
        <p:spPr>
          <a:xfrm>
            <a:off x="9270553" y="5733288"/>
            <a:ext cx="1933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PRODUCT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autonomy: aggressive on the long tail, conservative on AOG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3063240"/>
          </a:xfrm>
          <a:prstGeom prst="roundRect">
            <a:avLst>
              <a:gd name="adj" fmla="val 268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658368" cy="658368"/>
          </a:xfrm>
          <a:prstGeom prst="ellipse">
            <a:avLst/>
          </a:prstGeom>
          <a:solidFill>
            <a:srgbClr val="E560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2204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2250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only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2917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lands in the eMRO review queue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approves → Writeback Agent writes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 / flight-safety · unit cost ≥ $10K · Δ &gt; 25%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 of every deployment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4389120"/>
            <a:ext cx="2899562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443984"/>
            <a:ext cx="2899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Highest-risk parts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3458" y="1783080"/>
            <a:ext cx="3484778" cy="3063240"/>
          </a:xfrm>
          <a:prstGeom prst="roundRect">
            <a:avLst>
              <a:gd name="adj" fmla="val 268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7778" y="2075688"/>
            <a:ext cx="658368" cy="658368"/>
          </a:xfrm>
          <a:prstGeom prst="ellipse">
            <a:avLst/>
          </a:prstGeom>
          <a:solidFill>
            <a:srgbClr val="F0B53F"/>
          </a:solidFill>
          <a:ln/>
        </p:spPr>
      </p:sp>
      <p:sp>
        <p:nvSpPr>
          <p:cNvPr id="14" name="Text 12"/>
          <p:cNvSpPr/>
          <p:nvPr/>
        </p:nvSpPr>
        <p:spPr>
          <a:xfrm>
            <a:off x="4627778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05018" y="2130552"/>
            <a:ext cx="2204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05018" y="2331720"/>
            <a:ext cx="2250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autonomy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46066" y="2971800"/>
            <a:ext cx="2917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writes within policy bands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Out-of-band → escalates to Tier A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GO-IF / dispatch-critical · Δ within ±15%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notification + one-click rollback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46066" y="4389120"/>
            <a:ext cx="2899562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6066" y="4443984"/>
            <a:ext cx="2899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band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8277" y="1783080"/>
            <a:ext cx="3484778" cy="3063240"/>
          </a:xfrm>
          <a:prstGeom prst="roundRect">
            <a:avLst>
              <a:gd name="adj" fmla="val 268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32597" y="2075688"/>
            <a:ext cx="658368" cy="658368"/>
          </a:xfrm>
          <a:prstGeom prst="ellipse">
            <a:avLst/>
          </a:prstGeom>
          <a:solidFill>
            <a:srgbClr val="33C08A"/>
          </a:solidFill>
          <a:ln/>
        </p:spPr>
      </p:sp>
      <p:sp>
        <p:nvSpPr>
          <p:cNvPr id="22" name="Text 20"/>
          <p:cNvSpPr/>
          <p:nvPr/>
        </p:nvSpPr>
        <p:spPr>
          <a:xfrm>
            <a:off x="8432597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209837" y="2130552"/>
            <a:ext cx="2204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09837" y="2331720"/>
            <a:ext cx="2250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+ digest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450885" y="2971800"/>
            <a:ext cx="2917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writes; planner sees a weekly digest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expendables / consumables · Δ ±40%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 &lt; $500 · high-volume regime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most of the savings live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50885" y="4389120"/>
            <a:ext cx="2899562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0885" y="4443984"/>
            <a:ext cx="2899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60–70% of the catalog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367528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325880" y="507492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guardrails never bypassed.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Single-write delta capped at 100% even in Tier C · shelf-life / hazmat / tool-control clamps · an active AOG in the last 72h forces Tier A · per-tenant kill switch reverts to shadow mode in ≤ 60 seconds.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PRODUCT ·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engineering: guardrails, kill switches, incident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2024847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2880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writes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Single-write delta capped at 100% — even in Tier C. Floors enforced: SS ≥ 0 · ROP ≥ SS · Max ≥ ROP + EOQ · EOQ ≥ MinOQ.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319272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344216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324612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Shelf-life &amp; hazmat clamps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× avg daily demand ≤ 0.6 × shelf-life days. Hazmat / tool-control parts cannot more than double per write cycle.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736592"/>
            <a:ext cx="512064" cy="512064"/>
          </a:xfrm>
          <a:prstGeom prst="ellipse">
            <a:avLst/>
          </a:prstGeom>
          <a:solidFill>
            <a:srgbClr val="F0B53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859487"/>
            <a:ext cx="266273" cy="266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466344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Deferral &amp; AOG override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POs/ROs that would breach Max → defer one cycle. An active AOG in the last 72h forces Tier A regardless of other criteria.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324448" y="1901952"/>
            <a:ext cx="512064" cy="512064"/>
          </a:xfrm>
          <a:prstGeom prst="ellipse">
            <a:avLst/>
          </a:prstGeom>
          <a:solidFill>
            <a:srgbClr val="E5604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343" y="2024847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37680" y="182880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kill switches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revert to shadow mode in ≤ 60s; a global Trax kill switch stops all tenants in ≤ 5 min. 90-day rollback window, never zero.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324448" y="3319272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343" y="3442167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37680" y="324612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incident runbooks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garbage · writeback failure · event-lane stall · data leakage · prompt injection — each with a defined response and a 30-day action SLA.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324448" y="4736592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343" y="4859487"/>
            <a:ext cx="266273" cy="26627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37680" y="466344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suite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&amp; agent release is regression-tested against adversarial scenarios: wash-rate spike, lead-time collapse, AD shock, seasonal inversion, phantom demand.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supervisor, six specialists, on AWS Bedrock AgentCore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1517904"/>
            <a:ext cx="3840480" cy="768096"/>
          </a:xfrm>
          <a:prstGeom prst="roundRect">
            <a:avLst>
              <a:gd name="adj" fmla="val 10714"/>
            </a:avLst>
          </a:prstGeom>
          <a:solidFill>
            <a:srgbClr val="1E6FB0"/>
          </a:solidFill>
          <a:ln w="12700">
            <a:solidFill>
              <a:srgbClr val="2F9B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1688" y="172821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18888" y="160934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 · tenant context, routing, orchestration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0760" y="2286000"/>
            <a:ext cx="0" cy="292608"/>
          </a:xfrm>
          <a:prstGeom prst="line">
            <a:avLst/>
          </a:prstGeom>
          <a:noFill/>
          <a:ln w="2540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633472"/>
            <a:ext cx="7818120" cy="3200400"/>
          </a:xfrm>
          <a:prstGeom prst="roundRect">
            <a:avLst>
              <a:gd name="adj" fmla="val 257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76148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SPECIALIST SUBAGENTS — one AgentCore Runtime service each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145536"/>
            <a:ext cx="2319528" cy="1207008"/>
          </a:xfrm>
          <a:prstGeom prst="roundRect">
            <a:avLst>
              <a:gd name="adj" fmla="val 6818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328416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43814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27048" y="3328416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Retrieval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60120" y="3895344"/>
            <a:ext cx="195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4.5 · sole data interface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97936" y="3145536"/>
            <a:ext cx="2319528" cy="1207008"/>
          </a:xfrm>
          <a:prstGeom prst="roundRect">
            <a:avLst>
              <a:gd name="adj" fmla="val 6818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0816" y="3328416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544" y="343814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47744" y="3328416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Router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480816" y="3895344"/>
            <a:ext cx="195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LLM explain · picks the model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818632" y="3145536"/>
            <a:ext cx="2319528" cy="1207008"/>
          </a:xfrm>
          <a:prstGeom prst="roundRect">
            <a:avLst>
              <a:gd name="adj" fmla="val 6818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01512" y="3328416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0" y="343814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68440" y="3328416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001512" y="3895344"/>
            <a:ext cx="195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Croston · LightGBM · Chronos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77240" y="4517136"/>
            <a:ext cx="2319528" cy="1207008"/>
          </a:xfrm>
          <a:prstGeom prst="roundRect">
            <a:avLst>
              <a:gd name="adj" fmla="val 6818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60120" y="4700016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80974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27048" y="4700016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60120" y="5266944"/>
            <a:ext cx="195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Python · no LLM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97936" y="4517136"/>
            <a:ext cx="2319528" cy="1207008"/>
          </a:xfrm>
          <a:prstGeom prst="roundRect">
            <a:avLst>
              <a:gd name="adj" fmla="val 6818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480816" y="4700016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544" y="480974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047744" y="4700016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&amp; Approval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480816" y="5266944"/>
            <a:ext cx="195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policies · tiered autonomy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818632" y="4517136"/>
            <a:ext cx="2319528" cy="1207008"/>
          </a:xfrm>
          <a:prstGeom prst="roundRect">
            <a:avLst>
              <a:gd name="adj" fmla="val 6818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01512" y="4700016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240" y="4809744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8440" y="4700016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Writeback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001512" y="5266944"/>
            <a:ext cx="1953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 write IAM · history + rollback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686800" y="2633472"/>
            <a:ext cx="2999232" cy="932688"/>
          </a:xfrm>
          <a:prstGeom prst="roundRect">
            <a:avLst>
              <a:gd name="adj" fmla="val 8824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8869680" y="2880360"/>
            <a:ext cx="438912" cy="438912"/>
          </a:xfrm>
          <a:prstGeom prst="ellipse">
            <a:avLst/>
          </a:prstGeom>
          <a:solidFill>
            <a:srgbClr val="33C08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5019" y="2985699"/>
            <a:ext cx="228234" cy="22823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418320" y="2761488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+ DynamoDB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8366760" y="3099816"/>
            <a:ext cx="320040" cy="0"/>
          </a:xfrm>
          <a:prstGeom prst="line">
            <a:avLst/>
          </a:prstGeom>
          <a:noFill/>
          <a:ln w="19050">
            <a:solidFill>
              <a:srgbClr val="33C08A"/>
            </a:solidFill>
            <a:prstDash val="solid"/>
            <a:headEnd type="none"/>
            <a:tailEnd type="triangle"/>
          </a:ln>
        </p:spPr>
      </p:sp>
      <p:sp>
        <p:nvSpPr>
          <p:cNvPr id="45" name="Text 35"/>
          <p:cNvSpPr/>
          <p:nvPr/>
        </p:nvSpPr>
        <p:spPr>
          <a:xfrm>
            <a:off x="8321040" y="28254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8686800" y="3767328"/>
            <a:ext cx="2999232" cy="932688"/>
          </a:xfrm>
          <a:prstGeom prst="roundRect">
            <a:avLst>
              <a:gd name="adj" fmla="val 8824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869680" y="4014216"/>
            <a:ext cx="438912" cy="438912"/>
          </a:xfrm>
          <a:prstGeom prst="ellipse">
            <a:avLst/>
          </a:prstGeom>
          <a:solidFill>
            <a:srgbClr val="F0B53F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5019" y="4119555"/>
            <a:ext cx="228234" cy="22823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418320" y="3895344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Queue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Tier-A human review</a:t>
            </a:r>
            <a:endParaRPr lang="en-US" sz="1250" dirty="0"/>
          </a:p>
        </p:txBody>
      </p:sp>
      <p:sp>
        <p:nvSpPr>
          <p:cNvPr id="50" name="Shape 39"/>
          <p:cNvSpPr/>
          <p:nvPr/>
        </p:nvSpPr>
        <p:spPr>
          <a:xfrm>
            <a:off x="8366760" y="4233672"/>
            <a:ext cx="320040" cy="0"/>
          </a:xfrm>
          <a:prstGeom prst="line">
            <a:avLst/>
          </a:prstGeom>
          <a:noFill/>
          <a:ln w="19050">
            <a:solidFill>
              <a:srgbClr val="F0B53F"/>
            </a:solidFill>
            <a:prstDash val="solid"/>
            <a:headEnd type="none"/>
            <a:tailEnd type="triangle"/>
          </a:ln>
        </p:spPr>
      </p:sp>
      <p:sp>
        <p:nvSpPr>
          <p:cNvPr id="51" name="Text 40"/>
          <p:cNvSpPr/>
          <p:nvPr/>
        </p:nvSpPr>
        <p:spPr>
          <a:xfrm>
            <a:off x="8321040" y="39593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8686800" y="4901184"/>
            <a:ext cx="2999232" cy="932688"/>
          </a:xfrm>
          <a:prstGeom prst="roundRect">
            <a:avLst>
              <a:gd name="adj" fmla="val 8824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8869680" y="5148072"/>
            <a:ext cx="438912" cy="43891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5019" y="5253411"/>
            <a:ext cx="228234" cy="228234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9418320" y="5029200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eMRO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Writeback REST API</a:t>
            </a:r>
            <a:endParaRPr lang="en-US" sz="1250" dirty="0"/>
          </a:p>
        </p:txBody>
      </p:sp>
      <p:sp>
        <p:nvSpPr>
          <p:cNvPr id="56" name="Shape 44"/>
          <p:cNvSpPr/>
          <p:nvPr/>
        </p:nvSpPr>
        <p:spPr>
          <a:xfrm>
            <a:off x="8366760" y="5367528"/>
            <a:ext cx="320040" cy="0"/>
          </a:xfrm>
          <a:prstGeom prst="line">
            <a:avLst/>
          </a:prstGeom>
          <a:noFill/>
          <a:ln w="1905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57" name="Text 45"/>
          <p:cNvSpPr/>
          <p:nvPr/>
        </p:nvSpPr>
        <p:spPr>
          <a:xfrm>
            <a:off x="8321040" y="5093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  <a:endParaRPr lang="en-US" sz="800" dirty="0"/>
          </a:p>
        </p:txBody>
      </p:sp>
      <p:sp>
        <p:nvSpPr>
          <p:cNvPr id="58" name="Shape 46"/>
          <p:cNvSpPr/>
          <p:nvPr/>
        </p:nvSpPr>
        <p:spPr>
          <a:xfrm>
            <a:off x="548640" y="5989320"/>
            <a:ext cx="2636444" cy="457200"/>
          </a:xfrm>
          <a:prstGeom prst="roundRect">
            <a:avLst>
              <a:gd name="adj" fmla="val 18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" y="6126480"/>
            <a:ext cx="182880" cy="18288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950976" y="5989320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(tenant-namespaced)</a:t>
            </a:r>
            <a:endParaRPr lang="en-US" sz="950" dirty="0"/>
          </a:p>
        </p:txBody>
      </p:sp>
      <p:sp>
        <p:nvSpPr>
          <p:cNvPr id="61" name="Shape 48"/>
          <p:cNvSpPr/>
          <p:nvPr/>
        </p:nvSpPr>
        <p:spPr>
          <a:xfrm>
            <a:off x="3367964" y="5989320"/>
            <a:ext cx="2636444" cy="457200"/>
          </a:xfrm>
          <a:prstGeom prst="roundRect">
            <a:avLst>
              <a:gd name="adj" fmla="val 18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14268" y="6126480"/>
            <a:ext cx="182880" cy="182880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3770300" y="5989320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+ Cedar</a:t>
            </a:r>
            <a:endParaRPr lang="en-US" sz="950" dirty="0"/>
          </a:p>
        </p:txBody>
      </p:sp>
      <p:sp>
        <p:nvSpPr>
          <p:cNvPr id="64" name="Shape 50"/>
          <p:cNvSpPr/>
          <p:nvPr/>
        </p:nvSpPr>
        <p:spPr>
          <a:xfrm>
            <a:off x="6187288" y="5989320"/>
            <a:ext cx="2636444" cy="457200"/>
          </a:xfrm>
          <a:prstGeom prst="roundRect">
            <a:avLst>
              <a:gd name="adj" fmla="val 18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3592" y="6126480"/>
            <a:ext cx="182880" cy="182880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6589624" y="5989320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(MCP tools)</a:t>
            </a:r>
            <a:endParaRPr lang="en-US" sz="950" dirty="0"/>
          </a:p>
        </p:txBody>
      </p:sp>
      <p:sp>
        <p:nvSpPr>
          <p:cNvPr id="67" name="Shape 52"/>
          <p:cNvSpPr/>
          <p:nvPr/>
        </p:nvSpPr>
        <p:spPr>
          <a:xfrm>
            <a:off x="9006611" y="5989320"/>
            <a:ext cx="2636444" cy="457200"/>
          </a:xfrm>
          <a:prstGeom prst="roundRect">
            <a:avLst>
              <a:gd name="adj" fmla="val 18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pic>
        <p:nvPicPr>
          <p:cNvPr id="6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2915" y="6126480"/>
            <a:ext cx="182880" cy="182880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9408947" y="5989320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(OTel / X-Ray)</a:t>
            </a:r>
            <a:endParaRPr lang="en-US" sz="950" dirty="0"/>
          </a:p>
        </p:txBody>
      </p:sp>
      <p:sp>
        <p:nvSpPr>
          <p:cNvPr id="70" name="Text 5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71" name="Text 5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THE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specialists, each independently versioned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4892040"/>
                <a:gridCol w="2651760"/>
                <a:gridCol w="1673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/ engine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&amp; Retrieval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Sole interface to feature store, extracts &amp; event lane — every other agent reads through 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 4.5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 Router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Classifies each key's demand regime and selects the forecast 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+ Sonnet 4.6 explain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Hosts three regime models behind one interface; delegates inference to SageMaker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Croston · LightGBM · Chronos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Turns inputs into (ROP, EOQ, SS, Max) with provenance — what planners sign off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Python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 &amp; Approval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Enforces tiered autonomy via Cedar; routes out-of-band recs to the approval queue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Cedar + Sonnet 4.6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approved changes, logs history, handles rollback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Python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9B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 (Sonnet 4.6) owns tenant context and routing — it never does domain work. </a:t>
            </a:r>
            <a:pPr algn="l" indent="0" marL="0"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2–6 each add one specialist without changing the Supervisor contract.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model for each demand regime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CATALOG BY COUNT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ultra_rare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2157984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1B2836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2157984"/>
            <a:ext cx="2709237" cy="347472"/>
          </a:xfrm>
          <a:prstGeom prst="roundRect">
            <a:avLst>
              <a:gd name="adj" fmla="val 13158"/>
            </a:avLst>
          </a:prstGeom>
          <a:solidFill>
            <a:srgbClr val="2F9BE0"/>
          </a:solidFill>
          <a:ln/>
        </p:spPr>
      </p:sp>
      <p:sp>
        <p:nvSpPr>
          <p:cNvPr id="8" name="Text 6"/>
          <p:cNvSpPr/>
          <p:nvPr/>
        </p:nvSpPr>
        <p:spPr>
          <a:xfrm>
            <a:off x="5315277" y="20848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999232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1B2836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2999232"/>
            <a:ext cx="796834" cy="347472"/>
          </a:xfrm>
          <a:prstGeom prst="roundRect">
            <a:avLst>
              <a:gd name="adj" fmla="val 13158"/>
            </a:avLst>
          </a:prstGeom>
          <a:solidFill>
            <a:srgbClr val="2F9BE0"/>
          </a:solidFill>
          <a:ln/>
        </p:spPr>
      </p:sp>
      <p:sp>
        <p:nvSpPr>
          <p:cNvPr id="12" name="Text 10"/>
          <p:cNvSpPr/>
          <p:nvPr/>
        </p:nvSpPr>
        <p:spPr>
          <a:xfrm>
            <a:off x="3402874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67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38404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1B2836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3840480"/>
            <a:ext cx="318734" cy="347472"/>
          </a:xfrm>
          <a:prstGeom prst="roundRect">
            <a:avLst>
              <a:gd name="adj" fmla="val 14344"/>
            </a:avLst>
          </a:prstGeom>
          <a:solidFill>
            <a:srgbClr val="33C08A"/>
          </a:solidFill>
          <a:ln/>
        </p:spPr>
      </p:sp>
      <p:sp>
        <p:nvSpPr>
          <p:cNvPr id="16" name="Text 14"/>
          <p:cNvSpPr/>
          <p:nvPr/>
        </p:nvSpPr>
        <p:spPr>
          <a:xfrm>
            <a:off x="2924774" y="3767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08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high_volume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4681728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1B2836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4681728"/>
            <a:ext cx="274320" cy="347472"/>
          </a:xfrm>
          <a:prstGeom prst="roundRect">
            <a:avLst>
              <a:gd name="adj" fmla="val 16667"/>
            </a:avLst>
          </a:prstGeom>
          <a:solidFill>
            <a:srgbClr val="33C08A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46085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330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~68% of parts are ultra-rare — the long tail is the hard, valuable problem.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664208"/>
            <a:ext cx="5653735" cy="969264"/>
          </a:xfrm>
          <a:prstGeom prst="roundRect">
            <a:avLst>
              <a:gd name="adj" fmla="val 849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08776" y="17922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ultra_rare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08776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 removals / 24 mo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66760" y="1828800"/>
            <a:ext cx="0" cy="64008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81051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Empirical-Bayes Gamma-Poisson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49640" y="217627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peer-part priors (same ATA, criticality, fleet)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2761488"/>
            <a:ext cx="5653735" cy="969264"/>
          </a:xfrm>
          <a:prstGeom prst="roundRect">
            <a:avLst>
              <a:gd name="adj" fmla="val 849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08776" y="28895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intermittent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08776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– 24 removals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66760" y="2926080"/>
            <a:ext cx="0" cy="64008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90779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Croston / TSB / SBA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49640" y="327355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intermittent, via statsforecast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3858768"/>
            <a:ext cx="5653735" cy="969264"/>
          </a:xfrm>
          <a:prstGeom prst="roundRect">
            <a:avLst>
              <a:gd name="adj" fmla="val 849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08776" y="39867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08776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– 200 removals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66760" y="4023360"/>
            <a:ext cx="0" cy="64008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400507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+ causal covariates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49640" y="437083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rate, utilization, criticality, 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4956048"/>
            <a:ext cx="5653735" cy="969264"/>
          </a:xfrm>
          <a:prstGeom prst="roundRect">
            <a:avLst>
              <a:gd name="adj" fmla="val 8491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08776" y="50840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high_volume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08776" y="5413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removals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66760" y="5120640"/>
            <a:ext cx="0" cy="64008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510235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+ foundation ensemble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549640" y="546811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blended, weighted by rolling MAPE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returns a full demand distribution, not a point forecast. </a:t>
            </a:r>
            <a:pPr algn="l" indent="0" marL="0">
              <a:buNone/>
            </a:pPr>
            <a:r>
              <a:rPr lang="en-US" sz="11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Re-classified on a ±20% hysteresis band; Chronos / Moirai challengers run in shadow.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silent model swaps. Ever.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4298" cy="370332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5798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77" y="230282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926080"/>
            <a:ext cx="2832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/ challenger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" y="361188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nightly on a rolling 60-day holdout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metrics: weighted MAPE · fill-rate vs target · total cost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 promoted only after beating champion on all three for 45 consecutive days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preceded by a planner-visible notice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828800"/>
            <a:ext cx="3454298" cy="370332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9594" y="215798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435" y="230282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9594" y="2926080"/>
            <a:ext cx="2832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peer priors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79594" y="361188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Challengers train on de-identified PN-level features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rate, causal intensity, criticality, ATA, fleet type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tenant IDs, part numbers or vendors cross the boundary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AWS account, no read access to tenant PII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828800"/>
            <a:ext cx="3454298" cy="370332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9653" y="215798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494" y="230282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9653" y="2926080"/>
            <a:ext cx="2832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Distributions, not points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99653" y="361188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emits mean, variance and tail percentiles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service-level-constrained cost minimization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Peer-median benchmark ships as a v2 premium feature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to current static level when confidence is low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Store — the single most load-bearing item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8608" cy="1874520"/>
          </a:xfrm>
          <a:prstGeom prst="roundRect">
            <a:avLst>
              <a:gd name="adj" fmla="val 439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13457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75104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— Glue + Apache Iceberg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versioned feature groups, recomputed nightly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9536" y="2788920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by tenant, Iceberg time-travel enabled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historical recommendation is reproducible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2, audit, and planner-trust multiplier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4448" y="1737360"/>
            <a:ext cx="5318608" cy="1874520"/>
          </a:xfrm>
          <a:prstGeom prst="roundRect">
            <a:avLst>
              <a:gd name="adj" fmla="val 439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8768" y="2011680"/>
            <a:ext cx="512064" cy="512064"/>
          </a:xfrm>
          <a:prstGeom prst="ellipse">
            <a:avLst/>
          </a:prstGeom>
          <a:solidFill>
            <a:srgbClr val="33C0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663" y="213457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8848" y="1975104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— Amazon DynamoDB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(tenant, pn, location) layer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35344" y="2788920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 ms reads for event-triggered inference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Populated nightly by Glue, updated by the event lane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Right-sized: the read pattern doesn't justify SageMaker FS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FEATURE GROUPS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749040" y="3840480"/>
            <a:ext cx="7894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added in Wave 4 (demand-side open requisition lines)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6656" y="4160520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part_attributes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67964" y="4160520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95980" y="4160520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87288" y="4160520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15304" y="4160520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stock_position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006611" y="4160520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34627" y="4160520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current_policy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8640" y="4764024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" y="4764024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vendor_economics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367964" y="4764024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95980" y="4764024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lead_time_distribution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187288" y="4764024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15304" y="4764024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demand_history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006611" y="4764024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134627" y="4764024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interchangeable_graph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8640" y="5367528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6656" y="5367528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location_graph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367964" y="5367528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95980" y="5367528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open_orders_snapshot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187288" y="5367528"/>
            <a:ext cx="2636444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315304" y="5367528"/>
            <a:ext cx="2380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requisition_snapshot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eMRO data reaches the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extract — the workhorse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057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eMRO Oracle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62072" y="2386584"/>
            <a:ext cx="595274" cy="0"/>
          </a:xfrm>
          <a:prstGeom prst="line">
            <a:avLst/>
          </a:prstGeom>
          <a:noFill/>
          <a:ln w="1778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84778" y="205740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370" y="22494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15130" y="2057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Utility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98210" y="2386584"/>
            <a:ext cx="595274" cy="0"/>
          </a:xfrm>
          <a:prstGeom prst="line">
            <a:avLst/>
          </a:prstGeom>
          <a:noFill/>
          <a:ln w="1778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420917" y="205740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09" y="224942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51269" y="2057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landing (per-tenant KMS)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734349" y="2386584"/>
            <a:ext cx="595274" cy="0"/>
          </a:xfrm>
          <a:prstGeom prst="line">
            <a:avLst/>
          </a:prstGeom>
          <a:noFill/>
          <a:ln w="17780">
            <a:solidFill>
              <a:srgbClr val="2F9BE0"/>
            </a:solidFill>
            <a:prstDash val="solid"/>
            <a:headEnd type="non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9357055" y="205740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647" y="224942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87407" y="2057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→ Feature Store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27523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utility runs on the customer's own scheduler · 21 canonical SQL domains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lane — real-time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347472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66674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78992" y="34747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eMRO add-on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862072" y="3803904"/>
            <a:ext cx="595274" cy="0"/>
          </a:xfrm>
          <a:prstGeom prst="line">
            <a:avLst/>
          </a:prstGeom>
          <a:noFill/>
          <a:ln w="17780">
            <a:solidFill>
              <a:srgbClr val="33C08A"/>
            </a:solidFill>
            <a:prstDash val="solid"/>
            <a:headEnd type="none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3484778" y="347472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370" y="366674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15130" y="34747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domain events (mTLS)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798210" y="3803904"/>
            <a:ext cx="595274" cy="0"/>
          </a:xfrm>
          <a:prstGeom prst="line">
            <a:avLst/>
          </a:prstGeom>
          <a:noFill/>
          <a:ln w="17780">
            <a:solidFill>
              <a:srgbClr val="33C08A"/>
            </a:solidFill>
            <a:prstDash val="solid"/>
            <a:headEnd type="none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6420917" y="347472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5509" y="3666744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951269" y="34747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→ Kinesis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734349" y="3803904"/>
            <a:ext cx="595274" cy="0"/>
          </a:xfrm>
          <a:prstGeom prst="line">
            <a:avLst/>
          </a:prstGeom>
          <a:noFill/>
          <a:ln w="17780">
            <a:solidFill>
              <a:srgbClr val="33C08A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9357055" y="347472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1647" y="3666744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887407" y="34747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 → online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416966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flight_completed · stock_moved · wo_scheduled · vendor_price_changed · plan_published · removal_recorded · eo_published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CDC — tier-1 upsell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548640" y="489204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5084064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078992" y="4892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replica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2862072" y="5221224"/>
            <a:ext cx="2063344" cy="0"/>
          </a:xfrm>
          <a:prstGeom prst="line">
            <a:avLst/>
          </a:prstGeom>
          <a:noFill/>
          <a:ln w="17780">
            <a:solidFill>
              <a:srgbClr val="9FB0C3"/>
            </a:solidFill>
            <a:prstDash val="solid"/>
            <a:headEnd type="none"/>
            <a:tailEnd type="triangle"/>
          </a:ln>
        </p:spPr>
      </p:sp>
      <p:sp>
        <p:nvSpPr>
          <p:cNvPr id="43" name="Shape 32"/>
          <p:cNvSpPr/>
          <p:nvPr/>
        </p:nvSpPr>
        <p:spPr>
          <a:xfrm>
            <a:off x="4952848" y="489204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7440" y="5084064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483200" y="4892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DMS (redo logs)</a:t>
            </a:r>
            <a:endParaRPr lang="en-US" sz="1100" dirty="0"/>
          </a:p>
        </p:txBody>
      </p:sp>
      <p:sp>
        <p:nvSpPr>
          <p:cNvPr id="46" name="Shape 34"/>
          <p:cNvSpPr/>
          <p:nvPr/>
        </p:nvSpPr>
        <p:spPr>
          <a:xfrm>
            <a:off x="7266280" y="5221224"/>
            <a:ext cx="2063344" cy="0"/>
          </a:xfrm>
          <a:prstGeom prst="line">
            <a:avLst/>
          </a:prstGeom>
          <a:noFill/>
          <a:ln w="17780">
            <a:solidFill>
              <a:srgbClr val="9FB0C3"/>
            </a:solidFill>
            <a:prstDash val="solid"/>
            <a:headEnd type="none"/>
            <a:tailEnd type="triangle"/>
          </a:ln>
        </p:spPr>
      </p:sp>
      <p:sp>
        <p:nvSpPr>
          <p:cNvPr id="47" name="Shape 35"/>
          <p:cNvSpPr/>
          <p:nvPr/>
        </p:nvSpPr>
        <p:spPr>
          <a:xfrm>
            <a:off x="9357055" y="4892040"/>
            <a:ext cx="2286000" cy="658368"/>
          </a:xfrm>
          <a:prstGeom prst="roundRect">
            <a:avLst>
              <a:gd name="adj" fmla="val 125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1647" y="5084064"/>
            <a:ext cx="274320" cy="27432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887407" y="4892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Iceberg tables</a:t>
            </a:r>
            <a:endParaRPr lang="en-US" sz="1100" dirty="0"/>
          </a:p>
        </p:txBody>
      </p:sp>
      <p:sp>
        <p:nvSpPr>
          <p:cNvPr id="50" name="Text 37"/>
          <p:cNvSpPr/>
          <p:nvPr/>
        </p:nvSpPr>
        <p:spPr>
          <a:xfrm>
            <a:off x="548640" y="55869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hot-parts without waiting for the Event Publisher release</a:t>
            </a:r>
            <a:endParaRPr lang="en-US" sz="950" dirty="0"/>
          </a:p>
        </p:txBody>
      </p:sp>
      <p:sp>
        <p:nvSpPr>
          <p:cNvPr id="51" name="Text 38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THE WRITE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write path. Every change reversible.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77640" cy="3977640"/>
          </a:xfrm>
          <a:prstGeom prst="roundRect">
            <a:avLst>
              <a:gd name="adj" fmla="val 2069"/>
            </a:avLst>
          </a:prstGeom>
          <a:solidFill>
            <a:srgbClr val="1E6FB0"/>
          </a:solidFill>
          <a:ln w="12700">
            <a:solidFill>
              <a:srgbClr val="2F9B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Writeback is the ONLY agent with write access to eMRO.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4526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specialist is strictly read-only. One narrowly-scoped IAM role holds PN_INVENTORY_LEVEL:Write.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83480" y="1837944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75" y="1960839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96712" y="1783080"/>
            <a:ext cx="58823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ledger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writes to PN_INVENTORY_LEVEL, logged to PN_INVENTORY_LEVEL_HISTORY: old → new, agent, version, forecast id, tier, timestamp.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83480" y="2871216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75" y="2994111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96712" y="2816352"/>
            <a:ext cx="58823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rollback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reversible for 90 days (configurable, never zero). Bulk rollback requires a second planner confirmation.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983480" y="3904488"/>
            <a:ext cx="512064" cy="512064"/>
          </a:xfrm>
          <a:prstGeom prst="ellipse">
            <a:avLst/>
          </a:prstGeom>
          <a:solidFill>
            <a:srgbClr val="33C08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375" y="4027383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96712" y="3849624"/>
            <a:ext cx="58823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onboarding every would-be write is logged as SHADOWED and nothing is applied — proof before power.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983480" y="4937760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375" y="5060655"/>
            <a:ext cx="266273" cy="26627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96712" y="4882896"/>
            <a:ext cx="58823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Dual-book audit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Mirrored to immutable S3 (Object Lock). Neither party can unilaterally rewrite history.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IO Review — one workspace for the planner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02" y="2121042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56946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" y="284378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KPIs, health mix, ATA risk, priority actions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90824" y="1783080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0280" y="2002536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86" y="2121042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0280" y="256946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Drill-Down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0280" y="284378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Attributes, stock, lead time, demand, history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33008" y="1783080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2464" y="2002536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70" y="2121042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2464" y="256946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52464" y="284378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server-paged core approval loop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75191" y="1783080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94647" y="2002536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154" y="2121042"/>
            <a:ext cx="256764" cy="256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4647" y="256946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94647" y="284378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rec → reason → action cards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456432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8096" y="3675888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02" y="3794394"/>
            <a:ext cx="256764" cy="2567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" y="4242816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&amp; Service Levels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68096" y="4517136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demand vs. target fill rate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90824" y="3456432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10280" y="3675888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786" y="3794394"/>
            <a:ext cx="256764" cy="2567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10280" y="4242816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Scenarios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610280" y="4517136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Live-solved SL / budget / TAT sliders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33008" y="3456432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52464" y="3675888"/>
            <a:ext cx="493776" cy="493776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970" y="3794394"/>
            <a:ext cx="256764" cy="2567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52464" y="4242816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Connections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52464" y="4517136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13-feed connection-status table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75191" y="3456432"/>
            <a:ext cx="2567864" cy="1417320"/>
          </a:xfrm>
          <a:prstGeom prst="roundRect">
            <a:avLst>
              <a:gd name="adj" fmla="val 5806"/>
            </a:avLst>
          </a:prstGeom>
          <a:solidFill>
            <a:srgbClr val="1B2836"/>
          </a:solidFill>
          <a:ln w="12700">
            <a:solidFill>
              <a:srgbClr val="1E6FB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9294647" y="3621024"/>
            <a:ext cx="2165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provenance invariant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carries its lineage — source, system of record, freshness, coverage, confidence. A value can't render without it.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Tailwind · one frontend over a FastAPI backend-for-frontend · WCAG 2.1 AA.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loop, built for 40k-SKU catalogs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760720" cy="3840480"/>
          </a:xfrm>
          <a:prstGeom prst="roundRect">
            <a:avLst>
              <a:gd name="adj" fmla="val 2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93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1947672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4256" y="1947672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approve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57800" y="194767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85816" y="19476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500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pPr indent="0" marL="0">
              <a:buNone/>
            </a:pPr>
            <a:r>
              <a:rPr lang="en-US" sz="900" b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pPr indent="0" marL="0">
              <a:buNone/>
            </a:pPr>
            <a:r>
              <a:rPr lang="en-US" sz="900" b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→ Proposed</a:t>
            </a:r>
            <a:pPr indent="0" marL="0">
              <a:buNone/>
            </a:pPr>
            <a:r>
              <a:rPr lang="en-US" sz="900" b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indent="0" marL="0">
              <a:buNone/>
            </a:pPr>
            <a:r>
              <a:rPr lang="en-US" sz="900" b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624328"/>
            <a:ext cx="5431536" cy="448056"/>
          </a:xfrm>
          <a:prstGeom prst="rect">
            <a:avLst/>
          </a:prstGeom>
          <a:solidFill>
            <a:srgbClr val="1B283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51760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9821-4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2651760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34640" y="265176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 4 → 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2651760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2724912"/>
            <a:ext cx="274320" cy="274320"/>
          </a:xfrm>
          <a:prstGeom prst="ellipse">
            <a:avLst/>
          </a:prstGeom>
          <a:solidFill>
            <a:srgbClr val="F0B53F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3340-1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154680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315468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12 → 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3154680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15000" y="3227832"/>
            <a:ext cx="274320" cy="274320"/>
          </a:xfrm>
          <a:prstGeom prst="ellipse">
            <a:avLst/>
          </a:prstGeom>
          <a:solidFill>
            <a:srgbClr val="33C08A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3630168"/>
            <a:ext cx="5431536" cy="448056"/>
          </a:xfrm>
          <a:prstGeom prst="rect">
            <a:avLst/>
          </a:prstGeom>
          <a:solidFill>
            <a:srgbClr val="1B283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657600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771-A2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03120" y="3657600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34640" y="365760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 2 → 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0" y="3657600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+150%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15000" y="3730752"/>
            <a:ext cx="274320" cy="274320"/>
          </a:xfrm>
          <a:prstGeom prst="ellipse">
            <a:avLst/>
          </a:prstGeom>
          <a:solidFill>
            <a:srgbClr val="E5604F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160520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5120-9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4160520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34640" y="416052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EOQ 8 → 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4160520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15000" y="4233672"/>
            <a:ext cx="274320" cy="274320"/>
          </a:xfrm>
          <a:prstGeom prst="ellipse">
            <a:avLst/>
          </a:prstGeom>
          <a:solidFill>
            <a:srgbClr val="33C08A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3232" y="4636008"/>
            <a:ext cx="5431536" cy="448056"/>
          </a:xfrm>
          <a:prstGeom prst="rect">
            <a:avLst/>
          </a:prstGeom>
          <a:solidFill>
            <a:srgbClr val="1B2836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663440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6002-7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03120" y="4663440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34640" y="466344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 1 → 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20640" y="4663440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15000" y="4736592"/>
            <a:ext cx="274320" cy="274320"/>
          </a:xfrm>
          <a:prstGeom prst="ellipse">
            <a:avLst/>
          </a:prstGeom>
          <a:solidFill>
            <a:srgbClr val="F0B53F"/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52395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Server-paged (200/page) · filter + sort · accept / reject / defer · per-row history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766560" y="1783080"/>
            <a:ext cx="4876495" cy="3840480"/>
          </a:xfrm>
          <a:prstGeom prst="roundRect">
            <a:avLst>
              <a:gd name="adj" fmla="val 2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95160" y="19293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995160" y="2350008"/>
            <a:ext cx="2072488" cy="868680"/>
          </a:xfrm>
          <a:prstGeom prst="roundRect">
            <a:avLst>
              <a:gd name="adj" fmla="val 9474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459736"/>
            <a:ext cx="170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58.9K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178040" y="2898648"/>
            <a:ext cx="170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Planning-active keys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41968" y="2350008"/>
            <a:ext cx="2072488" cy="868680"/>
          </a:xfrm>
          <a:prstGeom prst="roundRect">
            <a:avLst>
              <a:gd name="adj" fmla="val 9474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24848" y="2459736"/>
            <a:ext cx="170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$419M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524848" y="2898648"/>
            <a:ext cx="170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pipeline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95160" y="3401568"/>
            <a:ext cx="2072488" cy="868680"/>
          </a:xfrm>
          <a:prstGeom prst="roundRect">
            <a:avLst>
              <a:gd name="adj" fmla="val 9474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511296"/>
            <a:ext cx="170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1,082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178040" y="3950208"/>
            <a:ext cx="170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parts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341968" y="3401568"/>
            <a:ext cx="2072488" cy="868680"/>
          </a:xfrm>
          <a:prstGeom prst="roundRect">
            <a:avLst>
              <a:gd name="adj" fmla="val 9474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24848" y="3511296"/>
            <a:ext cx="170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11.1K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9524848" y="3950208"/>
            <a:ext cx="170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recs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95160" y="4471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HEALTH MIX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95160" y="4745736"/>
            <a:ext cx="2430612" cy="310896"/>
          </a:xfrm>
          <a:prstGeom prst="rect">
            <a:avLst/>
          </a:prstGeom>
          <a:solidFill>
            <a:srgbClr val="33C08A"/>
          </a:solidFill>
          <a:ln/>
        </p:spPr>
      </p:sp>
      <p:sp>
        <p:nvSpPr>
          <p:cNvPr id="61" name="Shape 59"/>
          <p:cNvSpPr/>
          <p:nvPr/>
        </p:nvSpPr>
        <p:spPr>
          <a:xfrm>
            <a:off x="9425772" y="4745736"/>
            <a:ext cx="1237403" cy="310896"/>
          </a:xfrm>
          <a:prstGeom prst="rect">
            <a:avLst/>
          </a:prstGeom>
          <a:solidFill>
            <a:srgbClr val="F0B53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663175" y="4745736"/>
            <a:ext cx="751280" cy="310896"/>
          </a:xfrm>
          <a:prstGeom prst="rect">
            <a:avLst/>
          </a:prstGeom>
          <a:solidFill>
            <a:srgbClr val="E5604F"/>
          </a:solidFill>
          <a:ln/>
        </p:spPr>
      </p:sp>
      <p:sp>
        <p:nvSpPr>
          <p:cNvPr id="63" name="Text 61"/>
          <p:cNvSpPr/>
          <p:nvPr/>
        </p:nvSpPr>
        <p:spPr>
          <a:xfrm>
            <a:off x="6995160" y="5129784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55%   </a:t>
            </a:r>
            <a:pPr indent="0" marL="0">
              <a:buNone/>
            </a:pPr>
            <a:r>
              <a:rPr lang="en-US" sz="95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28%   </a:t>
            </a:r>
            <a:pPr indent="0" marL="0">
              <a:buNone/>
            </a:pPr>
            <a:r>
              <a:rPr lang="en-US" sz="950" b="1" dirty="0">
                <a:solidFill>
                  <a:srgbClr val="E5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17%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995160" y="5239512"/>
            <a:ext cx="4419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Drill-in panels on every card · illustrative figures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part to the whole what-if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4298" cy="370332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5798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77" y="230282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Drill-Down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9536" y="3063240"/>
            <a:ext cx="28873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Attributes, description &amp; criticality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breakdown by location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Lead-time view: promised vs. actual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orders &amp; 24-month demand series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Writeback history timeline + rollback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8698" y="1828800"/>
            <a:ext cx="3454298" cy="370332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9594" y="215798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435" y="230282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5978" y="2212848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Scenarios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79594" y="3063240"/>
            <a:ext cx="28873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Live-solved service-level / budget / TAT sliders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Cost–service efficient frontier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Save, compare and commit scenarios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trade-off before you write it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8757" y="1828800"/>
            <a:ext cx="3454298" cy="3703320"/>
          </a:xfrm>
          <a:prstGeom prst="roundRect">
            <a:avLst>
              <a:gd name="adj" fmla="val 2382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9653" y="2157984"/>
            <a:ext cx="603504" cy="60350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494" y="230282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6037" y="2212848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Connections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99653" y="3063240"/>
            <a:ext cx="28873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13-feed connection-status table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live vs. what's stubbed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and coverage per feed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 pretends to be more than it is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·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Value Report — the renewal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846320" cy="3977640"/>
          </a:xfrm>
          <a:prstGeom prst="roundRect">
            <a:avLst>
              <a:gd name="adj" fmla="val 2069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SAVINGS vs. PRE-AGENT BASELINE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cost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297680" cy="310896"/>
          </a:xfrm>
          <a:prstGeom prst="roundRect">
            <a:avLst>
              <a:gd name="adj" fmla="val 14706"/>
            </a:avLst>
          </a:prstGeom>
          <a:solidFill>
            <a:srgbClr val="1B283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606040"/>
            <a:ext cx="4297680" cy="310896"/>
          </a:xfrm>
          <a:prstGeom prst="roundRect">
            <a:avLst>
              <a:gd name="adj" fmla="val 14706"/>
            </a:avLst>
          </a:prstGeom>
          <a:solidFill>
            <a:srgbClr val="33C08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083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82696"/>
            <a:ext cx="4297680" cy="310896"/>
          </a:xfrm>
          <a:prstGeom prst="roundRect">
            <a:avLst>
              <a:gd name="adj" fmla="val 14706"/>
            </a:avLst>
          </a:prstGeom>
          <a:solidFill>
            <a:srgbClr val="1B283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282696"/>
            <a:ext cx="2664562" cy="310896"/>
          </a:xfrm>
          <a:prstGeom prst="roundRect">
            <a:avLst>
              <a:gd name="adj" fmla="val 14706"/>
            </a:avLst>
          </a:prstGeom>
          <a:solidFill>
            <a:srgbClr val="2F9BE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850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959352"/>
            <a:ext cx="4297680" cy="310896"/>
          </a:xfrm>
          <a:prstGeom prst="roundRect">
            <a:avLst>
              <a:gd name="adj" fmla="val 14706"/>
            </a:avLst>
          </a:prstGeom>
          <a:solidFill>
            <a:srgbClr val="1B28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59352"/>
            <a:ext cx="3352190" cy="310896"/>
          </a:xfrm>
          <a:prstGeom prst="roundRect">
            <a:avLst>
              <a:gd name="adj" fmla="val 14706"/>
            </a:avLst>
          </a:prstGeom>
          <a:solidFill>
            <a:srgbClr val="F0B53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17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Projected-only attribution — each component with its disclosed inputs (e.g. count of parts where EOQ was non-positive and ordering was skipped).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1837944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6277" y="1952061"/>
            <a:ext cx="247254" cy="24725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10528" y="1783080"/>
            <a:ext cx="505937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posture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recommendations across Tier A / B / C.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52160" y="2862072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277" y="2976189"/>
            <a:ext cx="247254" cy="24725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10528" y="2807208"/>
            <a:ext cx="505937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Approval, override and deferral rates by planner; kill-switch events.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852160" y="3886200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277" y="4000317"/>
            <a:ext cx="247254" cy="24725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10528" y="3831336"/>
            <a:ext cx="505937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look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12-month savings, with the extrapolation method disclosed.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852160" y="4910328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277" y="5024445"/>
            <a:ext cx="247254" cy="24725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10528" y="4855464"/>
            <a:ext cx="505937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coverage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Discloses keys valued of total portfolio keys — never implies full coverage.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852160" y="5833872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Schema-locked BvrReport 1.1.0 · JSON / HTML / PDF · auto-generated monthly · CFO-facing.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· ISOLATION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at four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841248"/>
          </a:xfrm>
          <a:prstGeom prst="roundRect">
            <a:avLst>
              <a:gd name="adj" fmla="val 9783"/>
            </a:avLst>
          </a:prstGeom>
          <a:solidFill>
            <a:srgbClr val="1E6FB0"/>
          </a:solidFill>
          <a:ln w="12700">
            <a:solidFill>
              <a:srgbClr val="2F9B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212579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9202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17320" y="182880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TenantContext propagation · per-tenant signed extract utilities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6949440" cy="841248"/>
          </a:xfrm>
          <a:prstGeom prst="roundRect">
            <a:avLst>
              <a:gd name="adj" fmla="val 978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3017520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89" y="313163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2926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1417320" y="283464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Specialist._assert_tenant_match validated on every decision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6949440" cy="841248"/>
          </a:xfrm>
          <a:prstGeom prst="roundRect">
            <a:avLst>
              <a:gd name="adj" fmla="val 978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23360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413747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39319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1417320" y="384048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 namespace + a dedicated KMS key per tenant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6949440" cy="841248"/>
          </a:xfrm>
          <a:prstGeom prst="roundRect">
            <a:avLst>
              <a:gd name="adj" fmla="val 978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5029200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89" y="5143317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0840" y="4937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1417320" y="484632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AWS CDK stacks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955280" y="1783080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BY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955280" y="2103120"/>
            <a:ext cx="3687775" cy="914400"/>
          </a:xfrm>
          <a:prstGeom prst="roundRect">
            <a:avLst>
              <a:gd name="adj" fmla="val 90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174736" y="2322576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853" y="2436693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78240" y="2103120"/>
            <a:ext cx="2727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KMS keys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encryption, annual rotation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955280" y="3163824"/>
            <a:ext cx="3687775" cy="914400"/>
          </a:xfrm>
          <a:prstGeom prst="roundRect">
            <a:avLst>
              <a:gd name="adj" fmla="val 90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74736" y="3383280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853" y="3497397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3163824"/>
            <a:ext cx="2727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authorization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call carries identity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7955280" y="4224528"/>
            <a:ext cx="3687775" cy="914400"/>
          </a:xfrm>
          <a:prstGeom prst="roundRect">
            <a:avLst>
              <a:gd name="adj" fmla="val 90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174736" y="4443984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8853" y="4558101"/>
            <a:ext cx="247254" cy="24725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778240" y="4224528"/>
            <a:ext cx="2727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 boundaries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per specialist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7955280" y="5285232"/>
            <a:ext cx="3687775" cy="914400"/>
          </a:xfrm>
          <a:prstGeom prst="roundRect">
            <a:avLst>
              <a:gd name="adj" fmla="val 9000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8174736" y="5504688"/>
            <a:ext cx="475488" cy="475488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853" y="5618805"/>
            <a:ext cx="247254" cy="24725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78240" y="5285232"/>
            <a:ext cx="2727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TraxAi account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without account sprawl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·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 from day one —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960839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83080"/>
            <a:ext cx="4541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ingress and writeback mirrored to S3 Object Lock (Compliance mode, 7-year retention). Dual-book — neither party can rewrite 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24448" y="1837944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343" y="1960839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37680" y="1783080"/>
            <a:ext cx="4541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Lake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access attempt logged, 7-year retention. Quarterly control tests automated via AWS Config + Audit Manager.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182112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305007"/>
            <a:ext cx="266273" cy="266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127248"/>
            <a:ext cx="4541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&amp; lineage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and every model version fully tracked: dataset hash, training-job hash, approver, champion/challenger eval record.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324448" y="3182112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343" y="3305007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37680" y="3127248"/>
            <a:ext cx="4541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 + incident response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incident-class runbooks (model garbage, writeback failure, event stall, data leakage, prompt injection) with a 30-day action SLA.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" y="4649175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1872" y="4471416"/>
            <a:ext cx="4541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suite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regression-tested against adversarial scenarios before it ships.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324448" y="4526280"/>
            <a:ext cx="512064" cy="512064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343" y="4649175"/>
            <a:ext cx="266273" cy="26627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37680" y="4471416"/>
            <a:ext cx="4541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alignment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 lineage compatible with high-risk-system documentation requirements.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AWS, per tenant, as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30352" cy="53035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956" y="221211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03120"/>
            <a:ext cx="2387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761488"/>
            <a:ext cx="2936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AgentCore · Strands · Cedar · per-tenant CDK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828800"/>
            <a:ext cx="348477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9490" y="2084832"/>
            <a:ext cx="530352" cy="53035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775" y="2212116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7858" y="2103120"/>
            <a:ext cx="2387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7778" y="2761488"/>
            <a:ext cx="2936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 · Claude Haiku 4.5 · no LLM in policy / writeback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828800"/>
            <a:ext cx="348477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4309" y="2084832"/>
            <a:ext cx="530352" cy="53035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593" y="221211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2677" y="2103120"/>
            <a:ext cx="2387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32597" y="2761488"/>
            <a:ext cx="2936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+ Apache Iceberg · DynamoDB · S3 (+ Object Lock) · optional DMS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48477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959352"/>
            <a:ext cx="530352" cy="53035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56" y="4086636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977640"/>
            <a:ext cx="2387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4636008"/>
            <a:ext cx="2936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· statsforecast · LightGBM · scipy EB · Chronos / Moirai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3703320"/>
            <a:ext cx="348477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9490" y="3959352"/>
            <a:ext cx="530352" cy="53035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775" y="4086636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67858" y="3977640"/>
            <a:ext cx="2387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27778" y="4636008"/>
            <a:ext cx="2936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· Kinesis · Step Functions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3703320"/>
            <a:ext cx="348477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4309" y="3959352"/>
            <a:ext cx="530352" cy="530352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593" y="4086636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2677" y="3977640"/>
            <a:ext cx="2387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security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32597" y="4636008"/>
            <a:ext cx="2936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→ X-Ray · CloudWatch · Grafana · CloudTrail Lake · Audit Manager · KMS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94360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76656" y="5943600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</a:t>
            </a:r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Tailwind · one frontend · FastAPI backend-for-frontend · WeasyPrint for the BVR PDF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· THE HONEST 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runs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325880"/>
          </a:xfrm>
          <a:prstGeom prst="roundRect">
            <a:avLst>
              <a:gd name="adj" fmla="val 620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84248"/>
            <a:ext cx="2165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 0–2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587752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&amp; fully tested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90824" y="1783080"/>
            <a:ext cx="2567864" cy="1325880"/>
          </a:xfrm>
          <a:prstGeom prst="roundRect">
            <a:avLst>
              <a:gd name="adj" fmla="val 620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1992" y="1984248"/>
            <a:ext cx="2165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58.9K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91992" y="2587752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eMRO keys in local Docker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67864" cy="1325880"/>
          </a:xfrm>
          <a:prstGeom prst="roundRect">
            <a:avLst>
              <a:gd name="adj" fmla="val 620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4176" y="1984248"/>
            <a:ext cx="2165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34176" y="2587752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agent-spine / BFF tests passing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75191" y="1783080"/>
            <a:ext cx="2567864" cy="1325880"/>
          </a:xfrm>
          <a:prstGeom prst="roundRect">
            <a:avLst>
              <a:gd name="adj" fmla="val 6207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76359" y="1984248"/>
            <a:ext cx="2165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76359" y="2587752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(Vitest) tests passing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721608"/>
            <a:ext cx="475488" cy="475488"/>
          </a:xfrm>
          <a:prstGeom prst="ellipse">
            <a:avLst/>
          </a:prstGeom>
          <a:solidFill>
            <a:srgbClr val="33C08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3835725"/>
            <a:ext cx="247254" cy="24725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342900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end-to-end in plain Python.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fully-tested local / Docker reference implementation runs the whole pipeline — extract → forecast → policy → guardrail → writeback → BFF → UI — including the forecasting slices (statistical, gradient-boosted, empirical-Bayes) and the #8 Business Value Report.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4910328"/>
            <a:ext cx="475488" cy="475488"/>
          </a:xfrm>
          <a:prstGeom prst="ellipse">
            <a:avLst/>
          </a:prstGeom>
          <a:solidFill>
            <a:srgbClr val="F0B53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77" y="5024445"/>
            <a:ext cx="247254" cy="24725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461772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0B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AWS deployment yet.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implementation proves the logic; a contract-tested fake_emro stands in for the Oracle write path, and the AWS CDK is coded toward — not deployed. This is a validated blueprint, honestly labelled.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sub-projects across four waves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493776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Sub-projects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9B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· Foundation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Utility · Feature Store · Observability / SOC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flowing; audit plane 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9B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Core agent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Spine · Forecasting &amp; Policy · Event Publisher · Writeback REST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pipeline producing real recommendations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9B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UI + 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Planner UI · Business Value Report Pipeline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Customer-facing surface + value reporting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9B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Go-live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 Onboarding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Lighthouse exits shadow → Tier B/C writes 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" y="5440680"/>
            <a:ext cx="10728655" cy="0"/>
          </a:xfrm>
          <a:prstGeom prst="line">
            <a:avLst/>
          </a:prstGeom>
          <a:noFill/>
          <a:ln w="25400">
            <a:solidFill>
              <a:srgbClr val="243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9224" y="5358384"/>
            <a:ext cx="164592" cy="164592"/>
          </a:xfrm>
          <a:prstGeom prst="ellipse">
            <a:avLst/>
          </a:prstGeom>
          <a:solidFill>
            <a:srgbClr val="2F9BE0"/>
          </a:solidFill>
          <a:ln w="25400">
            <a:solidFill>
              <a:srgbClr val="0F17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-45720" y="5843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0 exit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94955" y="5358384"/>
            <a:ext cx="164592" cy="164592"/>
          </a:xfrm>
          <a:prstGeom prst="ellipse">
            <a:avLst/>
          </a:prstGeom>
          <a:solidFill>
            <a:srgbClr val="2F9BE0"/>
          </a:solidFill>
          <a:ln w="25400">
            <a:solidFill>
              <a:srgbClr val="0F17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37171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0011" y="5843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40686" y="5358384"/>
            <a:ext cx="164592" cy="164592"/>
          </a:xfrm>
          <a:prstGeom prst="ellipse">
            <a:avLst/>
          </a:prstGeom>
          <a:solidFill>
            <a:srgbClr val="2F9BE0"/>
          </a:solidFill>
          <a:ln w="25400">
            <a:solidFill>
              <a:srgbClr val="0F17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2902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45742" y="5843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+ first BVR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086417" y="5358384"/>
            <a:ext cx="164592" cy="164592"/>
          </a:xfrm>
          <a:prstGeom prst="ellipse">
            <a:avLst/>
          </a:prstGeom>
          <a:solidFill>
            <a:srgbClr val="33C08A"/>
          </a:solidFill>
          <a:ln w="25400">
            <a:solidFill>
              <a:srgbClr val="0F17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28633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91473" y="5843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prod write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232148" y="5358384"/>
            <a:ext cx="164592" cy="164592"/>
          </a:xfrm>
          <a:prstGeom prst="ellipse">
            <a:avLst/>
          </a:prstGeom>
          <a:solidFill>
            <a:srgbClr val="33C08A"/>
          </a:solidFill>
          <a:ln w="25400">
            <a:solidFill>
              <a:srgbClr val="0F17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74364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37204" y="5843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1377879" y="5358384"/>
            <a:ext cx="164592" cy="164592"/>
          </a:xfrm>
          <a:prstGeom prst="ellipse">
            <a:avLst/>
          </a:prstGeom>
          <a:solidFill>
            <a:srgbClr val="2F9BE0"/>
          </a:solidFill>
          <a:ln w="25400">
            <a:solidFill>
              <a:srgbClr val="0F17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820095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682935" y="5843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customer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per part under management; the BVR renews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02536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$25–60K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05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tenant / 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IO Core, by catalog size &amp; tier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8698" y="1783080"/>
            <a:ext cx="345429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4730" y="2002536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43018" y="2651760"/>
            <a:ext cx="2905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3018" y="2953512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at low scale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8757" y="1783080"/>
            <a:ext cx="3454298" cy="1600200"/>
          </a:xfrm>
          <a:prstGeom prst="roundRect">
            <a:avLst>
              <a:gd name="adj" fmla="val 5143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4789" y="2002536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$3–8K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63077" y="2651760"/>
            <a:ext cx="2905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cost / tenant / 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3077" y="2953512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+ SageMaker in shadow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SKUs — EACH INDEPENDENTLY COMMERCIALIZABLE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1711909" cy="548640"/>
          </a:xfrm>
          <a:prstGeom prst="roundRect">
            <a:avLst>
              <a:gd name="adj" fmla="val 10000"/>
            </a:avLst>
          </a:prstGeom>
          <a:solidFill>
            <a:srgbClr val="1E6FB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4041648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(v1)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69693" y="4315968"/>
            <a:ext cx="146304" cy="0"/>
          </a:xfrm>
          <a:prstGeom prst="line">
            <a:avLst/>
          </a:prstGeom>
          <a:noFill/>
          <a:ln w="1524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25141" y="4041648"/>
            <a:ext cx="1711909" cy="548640"/>
          </a:xfrm>
          <a:prstGeom prst="roundRect">
            <a:avLst>
              <a:gd name="adj" fmla="val 10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3157" y="4041648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(v2)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46194" y="4315968"/>
            <a:ext cx="146304" cy="0"/>
          </a:xfrm>
          <a:prstGeom prst="line">
            <a:avLst/>
          </a:prstGeom>
          <a:noFill/>
          <a:ln w="1524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01642" y="4041648"/>
            <a:ext cx="1711909" cy="548640"/>
          </a:xfrm>
          <a:prstGeom prst="roundRect">
            <a:avLst>
              <a:gd name="adj" fmla="val 10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9658" y="4041648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 Shield (v3)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2696" y="4315968"/>
            <a:ext cx="146304" cy="0"/>
          </a:xfrm>
          <a:prstGeom prst="line">
            <a:avLst/>
          </a:prstGeom>
          <a:noFill/>
          <a:ln w="1524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78144" y="4041648"/>
            <a:ext cx="1711909" cy="548640"/>
          </a:xfrm>
          <a:prstGeom prst="roundRect">
            <a:avLst>
              <a:gd name="adj" fmla="val 10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6160" y="4041648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(v4)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99197" y="4315968"/>
            <a:ext cx="146304" cy="0"/>
          </a:xfrm>
          <a:prstGeom prst="line">
            <a:avLst/>
          </a:prstGeom>
          <a:noFill/>
          <a:ln w="1524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54645" y="4041648"/>
            <a:ext cx="1711909" cy="548640"/>
          </a:xfrm>
          <a:prstGeom prst="roundRect">
            <a:avLst>
              <a:gd name="adj" fmla="val 10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2661" y="4041648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(v5)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775698" y="4315968"/>
            <a:ext cx="146304" cy="0"/>
          </a:xfrm>
          <a:prstGeom prst="line">
            <a:avLst/>
          </a:prstGeom>
          <a:noFill/>
          <a:ln w="1524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31146" y="4041648"/>
            <a:ext cx="1711909" cy="548640"/>
          </a:xfrm>
          <a:prstGeom prst="roundRect">
            <a:avLst>
              <a:gd name="adj" fmla="val 10000"/>
            </a:avLst>
          </a:prstGeom>
          <a:solidFill>
            <a:srgbClr val="1B2836"/>
          </a:solidFill>
          <a:ln w="12700">
            <a:solidFill>
              <a:srgbClr val="243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9162" y="4041648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(v6)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33C08A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303520"/>
            <a:ext cx="237744" cy="23774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417320" y="4937760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Business Value Report is the contract-renewal engine.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quantifies dollars saved per tenant. By v3 the conversation shifts from “dollars saved in inventory” to “AOG hours prevented” — a qualitatively higher price tier.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platform; a new specialist each phase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99427" cy="3108960"/>
          </a:xfrm>
          <a:prstGeom prst="roundRect">
            <a:avLst>
              <a:gd name="adj" fmla="val 411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2112264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61683" y="2167128"/>
            <a:ext cx="493776" cy="493776"/>
          </a:xfrm>
          <a:prstGeom prst="ellipse">
            <a:avLst/>
          </a:prstGeom>
          <a:solidFill>
            <a:srgbClr val="1E6FB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0189" y="2285634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74320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68096" y="3246120"/>
            <a:ext cx="15605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3355848"/>
            <a:ext cx="15605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Consumes forward flight plans; adds the federated peer-benchmark (+~30%).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6355" y="3429000"/>
            <a:ext cx="237744" cy="0"/>
          </a:xfrm>
          <a:prstGeom prst="line">
            <a:avLst/>
          </a:prstGeom>
          <a:noFill/>
          <a:ln w="1778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22387" y="1874520"/>
            <a:ext cx="1999427" cy="3108960"/>
          </a:xfrm>
          <a:prstGeom prst="roundRect">
            <a:avLst>
              <a:gd name="adj" fmla="val 411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41843" y="2112264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035430" y="2167128"/>
            <a:ext cx="493776" cy="493776"/>
          </a:xfrm>
          <a:prstGeom prst="ellipse">
            <a:avLst/>
          </a:prstGeom>
          <a:solidFill>
            <a:srgbClr val="1E6FB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936" y="2285634"/>
            <a:ext cx="256764" cy="2567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41843" y="274320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 Shield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3041843" y="3246120"/>
            <a:ext cx="15605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41843" y="3355848"/>
            <a:ext cx="15605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shortages N days out; recommends expedites, transfers, substitutions.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40102" y="3429000"/>
            <a:ext cx="237744" cy="0"/>
          </a:xfrm>
          <a:prstGeom prst="line">
            <a:avLst/>
          </a:prstGeom>
          <a:noFill/>
          <a:ln w="1778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096134" y="1874520"/>
            <a:ext cx="1999427" cy="3108960"/>
          </a:xfrm>
          <a:prstGeom prst="roundRect">
            <a:avLst>
              <a:gd name="adj" fmla="val 411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315590" y="2112264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6309177" y="2167128"/>
            <a:ext cx="493776" cy="493776"/>
          </a:xfrm>
          <a:prstGeom prst="ellipse">
            <a:avLst/>
          </a:prstGeom>
          <a:solidFill>
            <a:srgbClr val="1E6FB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683" y="2285634"/>
            <a:ext cx="256764" cy="2567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15590" y="274320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550" dirty="0"/>
          </a:p>
        </p:txBody>
      </p:sp>
      <p:sp>
        <p:nvSpPr>
          <p:cNvPr id="25" name="Shape 20"/>
          <p:cNvSpPr/>
          <p:nvPr/>
        </p:nvSpPr>
        <p:spPr>
          <a:xfrm>
            <a:off x="5315590" y="3246120"/>
            <a:ext cx="15605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315590" y="3355848"/>
            <a:ext cx="15605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Excess, obsolete &amp; redistribution — first phase to use the Code Interpreter.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113849" y="3429000"/>
            <a:ext cx="237744" cy="0"/>
          </a:xfrm>
          <a:prstGeom prst="line">
            <a:avLst/>
          </a:prstGeom>
          <a:noFill/>
          <a:ln w="1778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69881" y="1874520"/>
            <a:ext cx="1999427" cy="3108960"/>
          </a:xfrm>
          <a:prstGeom prst="roundRect">
            <a:avLst>
              <a:gd name="adj" fmla="val 411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589337" y="2112264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</a:t>
            </a:r>
            <a:endParaRPr lang="en-US" sz="2600" dirty="0"/>
          </a:p>
        </p:txBody>
      </p:sp>
      <p:sp>
        <p:nvSpPr>
          <p:cNvPr id="30" name="Shape 25"/>
          <p:cNvSpPr/>
          <p:nvPr/>
        </p:nvSpPr>
        <p:spPr>
          <a:xfrm>
            <a:off x="8582924" y="2167128"/>
            <a:ext cx="493776" cy="493776"/>
          </a:xfrm>
          <a:prstGeom prst="ellipse">
            <a:avLst/>
          </a:prstGeom>
          <a:solidFill>
            <a:srgbClr val="1E6FB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430" y="2285634"/>
            <a:ext cx="256764" cy="2567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89337" y="274320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</a:t>
            </a:r>
            <a:endParaRPr lang="en-US" sz="1550" dirty="0"/>
          </a:p>
        </p:txBody>
      </p:sp>
      <p:sp>
        <p:nvSpPr>
          <p:cNvPr id="33" name="Shape 27"/>
          <p:cNvSpPr/>
          <p:nvPr/>
        </p:nvSpPr>
        <p:spPr>
          <a:xfrm>
            <a:off x="7589337" y="3246120"/>
            <a:ext cx="15605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589337" y="3355848"/>
            <a:ext cx="15605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Repair-vs-buy route optimizer: PO, RO, interchange, rental, loan, pool.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387596" y="3429000"/>
            <a:ext cx="237744" cy="0"/>
          </a:xfrm>
          <a:prstGeom prst="line">
            <a:avLst/>
          </a:prstGeom>
          <a:noFill/>
          <a:ln w="17780">
            <a:solidFill>
              <a:srgbClr val="6F8299"/>
            </a:solidFill>
            <a:prstDash val="solid"/>
            <a:headEnd type="none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43628" y="1874520"/>
            <a:ext cx="1999427" cy="3108960"/>
          </a:xfrm>
          <a:prstGeom prst="roundRect">
            <a:avLst>
              <a:gd name="adj" fmla="val 411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9863084" y="2112264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</a:t>
            </a:r>
            <a:endParaRPr lang="en-US" sz="2600" dirty="0"/>
          </a:p>
        </p:txBody>
      </p:sp>
      <p:sp>
        <p:nvSpPr>
          <p:cNvPr id="38" name="Shape 32"/>
          <p:cNvSpPr/>
          <p:nvPr/>
        </p:nvSpPr>
        <p:spPr>
          <a:xfrm>
            <a:off x="10856671" y="2167128"/>
            <a:ext cx="493776" cy="493776"/>
          </a:xfrm>
          <a:prstGeom prst="ellipse">
            <a:avLst/>
          </a:prstGeom>
          <a:solidFill>
            <a:srgbClr val="1E6FB0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5177" y="2285634"/>
            <a:ext cx="256764" cy="25676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863084" y="274320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550" dirty="0"/>
          </a:p>
        </p:txBody>
      </p:sp>
      <p:sp>
        <p:nvSpPr>
          <p:cNvPr id="41" name="Shape 34"/>
          <p:cNvSpPr/>
          <p:nvPr/>
        </p:nvSpPr>
        <p:spPr>
          <a:xfrm>
            <a:off x="9863084" y="3246120"/>
            <a:ext cx="15605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863084" y="3355848"/>
            <a:ext cx="15605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Multi-echelon rotable pool sizing (METRIC) across the main/outstation hierarchy.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adds one specialist without re-architecting the platform. </a:t>
            </a:r>
            <a:pPr algn="ctr" indent="0" marL="0">
              <a:buNone/>
            </a:pPr>
            <a:r>
              <a:rPr lang="en-US" sz="12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commercial story moves from dollars saved to AOG hours prevented.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algn="l" indent="0" marL="0">
              <a:buNone/>
            </a:pPr>
            <a:r>
              <a:rPr lang="en-US" sz="9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algn="l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 Inventory Optimization for eMRO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468880"/>
            <a:ext cx="5486400" cy="5486400"/>
          </a:xfrm>
          <a:prstGeom prst="ellipse">
            <a:avLst/>
          </a:prstGeom>
          <a:ln w="12700">
            <a:solidFill>
              <a:srgbClr val="1E6FB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-1371600"/>
            <a:ext cx="3383280" cy="3383280"/>
          </a:xfrm>
          <a:prstGeom prst="ellipse">
            <a:avLst/>
          </a:prstGeom>
          <a:ln w="15240">
            <a:solidFill>
              <a:srgbClr val="2F9BE0">
                <a:alpha val="5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thresholds to a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learning agent.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567864" cy="1051560"/>
          </a:xfrm>
          <a:prstGeom prst="roundRect">
            <a:avLst>
              <a:gd name="adj" fmla="val 782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685032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947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383280"/>
            <a:ext cx="160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90824" y="3383280"/>
            <a:ext cx="2567864" cy="1051560"/>
          </a:xfrm>
          <a:prstGeom prst="roundRect">
            <a:avLst>
              <a:gd name="adj" fmla="val 782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46856" y="3685032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84" y="37947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13784" y="3383280"/>
            <a:ext cx="160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233008" y="3383280"/>
            <a:ext cx="2567864" cy="1051560"/>
          </a:xfrm>
          <a:prstGeom prst="roundRect">
            <a:avLst>
              <a:gd name="adj" fmla="val 782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89040" y="3685032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7947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55968" y="3383280"/>
            <a:ext cx="160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9075191" y="3383280"/>
            <a:ext cx="2567864" cy="1051560"/>
          </a:xfrm>
          <a:prstGeom prst="roundRect">
            <a:avLst>
              <a:gd name="adj" fmla="val 7826"/>
            </a:avLst>
          </a:prstGeom>
          <a:solidFill>
            <a:srgbClr val="151F2B"/>
          </a:solidFill>
          <a:ln w="12700">
            <a:solidFill>
              <a:srgbClr val="2434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331223" y="3685032"/>
            <a:ext cx="457200" cy="457200"/>
          </a:xfrm>
          <a:prstGeom prst="ellipse">
            <a:avLst/>
          </a:prstGeom>
          <a:solidFill>
            <a:srgbClr val="2F9BE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951" y="379476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98151" y="3383280"/>
            <a:ext cx="160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48640" y="4754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IO recomputes every part, every location, every day — with the audit trail, guardrails and rollback that let a planner trust an agent with the catalog.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5897880"/>
            <a:ext cx="11094415" cy="0"/>
          </a:xfrm>
          <a:prstGeom prst="line">
            <a:avLst/>
          </a:prstGeom>
          <a:noFill/>
          <a:ln w="12700">
            <a:solidFill>
              <a:srgbClr val="24344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TRAX </a:t>
            </a:r>
            <a:pPr indent="0" marL="0">
              <a:buNone/>
            </a:pPr>
            <a:r>
              <a:rPr lang="en-US" sz="1300" b="1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pPr indent="0" marL="0">
              <a:buNone/>
            </a:pPr>
            <a:r>
              <a:rPr lang="en-US" sz="1300" dirty="0">
                <a:solidFill>
                  <a:srgbClr val="6F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Miguel Sosa, VP Head of Innovation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985455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Overview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Trax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Trax IO — Full Feature Overview</dc:title>
  <dc:subject>PptxGenJS Presentation</dc:subject>
  <dc:creator>Miguel Sosa · Trax</dc:creator>
  <cp:lastModifiedBy>Miguel Sosa · Trax</cp:lastModifiedBy>
  <cp:revision>1</cp:revision>
  <dcterms:created xsi:type="dcterms:W3CDTF">2026-07-07T01:58:20Z</dcterms:created>
  <dcterms:modified xsi:type="dcterms:W3CDTF">2026-07-07T01:58:20Z</dcterms:modified>
</cp:coreProperties>
</file>